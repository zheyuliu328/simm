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AA7803-F1DC-C248-022B-D9174D5D05D8}" name="Lam, Jason Tze Hin" initials="JL" userId="S::jasonlam@deloitte.com.hk::92245a02-de97-46e1-9fa3-9b5878193c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9D491-B253-403D-852F-109ACC500C00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C845B-A6FB-4490-B14F-5EC90BBB9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3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C845B-A6FB-4490-B14F-5EC90BBB94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31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7315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Segoe UI"/>
              </a:defRPr>
            </a:pPr>
            <a:r>
              <a:rPr dirty="0"/>
              <a:t>Product Scope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SIMM 2.8 Challenge Model Framework | </a:t>
            </a:r>
            <a:r>
              <a:rPr dirty="0" err="1"/>
              <a:t>ShacomBank</a:t>
            </a:r>
            <a:r>
              <a:rPr dirty="0"/>
              <a:t> Product List v1.31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18288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246888"/>
            <a:ext cx="1371600" cy="2462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v1.31 | </a:t>
            </a:r>
            <a:r>
              <a:rPr lang="en-US" altLang="zh-CN" dirty="0"/>
              <a:t>Feb</a:t>
            </a:r>
            <a:r>
              <a:rPr dirty="0"/>
              <a:t>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EBF8FF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0104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Segoe UI"/>
              </a:defRPr>
            </a:pPr>
            <a:r>
              <a:rPr dirty="0"/>
              <a:t>Challenge Model Approach: Our validation framework employs a three-tiered challenge model system to validate S&amp;P's SIMM 2.8 calculations across </a:t>
            </a:r>
            <a:r>
              <a:rPr lang="en-US" dirty="0"/>
              <a:t>20</a:t>
            </a:r>
            <a:r>
              <a:rPr dirty="0"/>
              <a:t> derivative products. Each tier applies specific validation techniques based on product complexity - from linear delta verification for simple forwards to circuit breaker-triggered fallback mechanisms for exotic options with discontinuity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1994" y="1728614"/>
            <a:ext cx="5852160" cy="11887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4874" y="1865774"/>
            <a:ext cx="731520" cy="228600"/>
          </a:xfrm>
          <a:prstGeom prst="roundRect">
            <a:avLst>
              <a:gd name="adj" fmla="val 3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4874" y="189320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34" y="186577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Segoe UI"/>
              </a:defRPr>
            </a:pPr>
            <a:r>
              <a:rPr dirty="0"/>
              <a:t>Linear Products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034874" y="2140094"/>
            <a:ext cx="545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Segoe UI"/>
              </a:defRPr>
            </a:pPr>
            <a:r>
              <a:rPr lang="en-US" dirty="0"/>
              <a:t>FX Outright Forward, NDF, FX Swap, IRS, Basis Swap, Cross Currency Swap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13473"/>
            <a:ext cx="58521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18096"/>
                </a:solidFill>
                <a:latin typeface="Segoe UI"/>
              </a:defRPr>
            </a:pPr>
            <a:r>
              <a:rPr lang="en-US" dirty="0"/>
              <a:t>DV01/Delta verification, Risk Weight consistency, ARR adjustment validation. Focus on linear payoff products with no optionality.</a:t>
            </a:r>
          </a:p>
          <a:p>
            <a:pPr>
              <a:defRPr sz="900" b="0">
                <a:solidFill>
                  <a:srgbClr val="718096"/>
                </a:solidFill>
                <a:latin typeface="Segoe UI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5851994" y="3008774"/>
            <a:ext cx="5852160" cy="11887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4874" y="3145934"/>
            <a:ext cx="731520" cy="228600"/>
          </a:xfrm>
          <a:prstGeom prst="roundRect">
            <a:avLst>
              <a:gd name="adj" fmla="val 30000"/>
            </a:avLst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4874" y="317336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7834" y="314593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Segoe UI"/>
              </a:defRPr>
            </a:pPr>
            <a:r>
              <a:t>Vanilla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4874" y="3420254"/>
            <a:ext cx="5852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Segoe UI"/>
              </a:defRPr>
            </a:pPr>
            <a:r>
              <a:rPr lang="en-US" dirty="0"/>
              <a:t>Domestic/Foreign Payout Option, Spot/Forward Premium Option, Time Option 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34874" y="3732928"/>
            <a:ext cx="58521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18096"/>
                </a:solidFill>
                <a:latin typeface="Segoe UI"/>
              </a:defRPr>
            </a:pPr>
            <a:r>
              <a:rPr lang="en-US" dirty="0"/>
              <a:t>Black-Scholes Greeks validation, Vega-Gamma relationship checks, Put-Call Parity verification. Standard options with continuous payoffs.</a:t>
            </a:r>
          </a:p>
          <a:p>
            <a:pPr>
              <a:defRPr sz="900" b="0">
                <a:solidFill>
                  <a:srgbClr val="718096"/>
                </a:solidFill>
                <a:latin typeface="Segoe UI"/>
              </a:defRPr>
            </a:pP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5851994" y="4288934"/>
            <a:ext cx="5852160" cy="11887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34874" y="4426094"/>
            <a:ext cx="731520" cy="228600"/>
          </a:xfrm>
          <a:prstGeom prst="roundRect">
            <a:avLst>
              <a:gd name="adj" fmla="val 30000"/>
            </a:avLst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4874" y="445352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TIER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857834" y="442609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Segoe UI"/>
              </a:defRPr>
            </a:pPr>
            <a:r>
              <a:rPr dirty="0"/>
              <a:t>Exotic / Path-Dependent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4874" y="4700414"/>
            <a:ext cx="545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Segoe UI"/>
              </a:defRPr>
            </a:pPr>
            <a:r>
              <a:rPr lang="en-US" dirty="0"/>
              <a:t>Digital Option, Digital Range, Touch Options, Barrier KO/RKO, Barrier KI/RKI, Barrier KIKO, Gold Option, TARFs, Range Accrual Swap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4874" y="5070407"/>
            <a:ext cx="58521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18096"/>
                </a:solidFill>
                <a:latin typeface="Segoe UI"/>
              </a:defRPr>
            </a:pPr>
            <a:r>
              <a:rPr lang="en-US" dirty="0"/>
              <a:t>Circuit Breakers, Pin Risk detection, Discontinuity handling. Products with barriers, digitals, or path-dependent features requiring special fallback mechanisms.</a:t>
            </a:r>
          </a:p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endParaRPr dirty="0"/>
          </a:p>
        </p:txBody>
      </p:sp>
      <p:sp>
        <p:nvSpPr>
          <p:cNvPr id="55" name="Rounded Rectangle 54"/>
          <p:cNvSpPr/>
          <p:nvPr/>
        </p:nvSpPr>
        <p:spPr>
          <a:xfrm>
            <a:off x="457200" y="5769864"/>
            <a:ext cx="11247120" cy="530352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573328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457200" y="60533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2E1"/>
                </a:solidFill>
                <a:latin typeface="Segoe UI"/>
              </a:defRPr>
            </a:pPr>
            <a:r>
              <a:rPr dirty="0"/>
              <a:t>Total Products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06624" y="573328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2706624" y="60533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2E1"/>
                </a:solidFill>
                <a:latin typeface="Segoe UI"/>
              </a:defRPr>
            </a:pPr>
            <a:r>
              <a:t>VM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6048" y="573328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1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4956048" y="60533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2E1"/>
                </a:solidFill>
                <a:latin typeface="Segoe UI"/>
              </a:defRPr>
            </a:pPr>
            <a:r>
              <a:t>IM Required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05472" y="573328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60533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2E1"/>
                </a:solidFill>
                <a:latin typeface="Segoe UI"/>
              </a:defRPr>
            </a:pPr>
            <a:r>
              <a:t>Challenge Tiers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54896" y="573328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9454896" y="6053328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2E1"/>
                </a:solidFill>
                <a:latin typeface="Segoe UI"/>
              </a:defRPr>
            </a:pPr>
            <a:r>
              <a:rPr lang="en-US" sz="900" dirty="0"/>
              <a:t>Product Categories</a:t>
            </a:r>
            <a:endParaRPr dirty="0"/>
          </a:p>
        </p:txBody>
      </p:sp>
      <p:sp>
        <p:nvSpPr>
          <p:cNvPr id="66" name="Rectangle 65"/>
          <p:cNvSpPr/>
          <p:nvPr/>
        </p:nvSpPr>
        <p:spPr>
          <a:xfrm>
            <a:off x="457200" y="6327648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457200" y="6419088"/>
            <a:ext cx="1280160" cy="201168"/>
          </a:xfrm>
          <a:prstGeom prst="roundRect">
            <a:avLst>
              <a:gd name="adj" fmla="val 30000"/>
            </a:avLst>
          </a:prstGeom>
          <a:solidFill>
            <a:srgbClr val="ED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640994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Delta/Notional Check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0" y="6419088"/>
            <a:ext cx="1280160" cy="201168"/>
          </a:xfrm>
          <a:prstGeom prst="roundRect">
            <a:avLst>
              <a:gd name="adj" fmla="val 30000"/>
            </a:avLst>
          </a:prstGeom>
          <a:solidFill>
            <a:srgbClr val="ED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885950" y="641908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BS Greeks Validation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0" y="6419088"/>
            <a:ext cx="1280160" cy="201168"/>
          </a:xfrm>
          <a:prstGeom prst="roundRect">
            <a:avLst>
              <a:gd name="adj" fmla="val 30000"/>
            </a:avLst>
          </a:prstGeom>
          <a:solidFill>
            <a:srgbClr val="ED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34690" y="641908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Pin Risk Detection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0" y="6419088"/>
            <a:ext cx="1280160" cy="201168"/>
          </a:xfrm>
          <a:prstGeom prst="roundRect">
            <a:avLst>
              <a:gd name="adj" fmla="val 30000"/>
            </a:avLst>
          </a:prstGeom>
          <a:solidFill>
            <a:srgbClr val="EDF2F7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49140" y="6419088"/>
            <a:ext cx="1325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Schedule-Based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6888" y="6446520"/>
            <a:ext cx="2487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Date: 2026-02-27 </a:t>
            </a:r>
          </a:p>
        </p:txBody>
      </p: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53E78DE8-4C59-5BDB-6739-110C92E74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04117"/>
              </p:ext>
            </p:extLst>
          </p:nvPr>
        </p:nvGraphicFramePr>
        <p:xfrm>
          <a:off x="457200" y="1852262"/>
          <a:ext cx="5122959" cy="3435477"/>
        </p:xfrm>
        <a:graphic>
          <a:graphicData uri="http://schemas.openxmlformats.org/drawingml/2006/table">
            <a:tbl>
              <a:tblPr/>
              <a:tblGrid>
                <a:gridCol w="1240404">
                  <a:extLst>
                    <a:ext uri="{9D8B030D-6E8A-4147-A177-3AD203B41FA5}">
                      <a16:colId xmlns:a16="http://schemas.microsoft.com/office/drawing/2014/main" val="3137764851"/>
                    </a:ext>
                  </a:extLst>
                </a:gridCol>
                <a:gridCol w="3882555">
                  <a:extLst>
                    <a:ext uri="{9D8B030D-6E8A-4147-A177-3AD203B41FA5}">
                      <a16:colId xmlns:a16="http://schemas.microsoft.com/office/drawing/2014/main" val="4001189580"/>
                    </a:ext>
                  </a:extLst>
                </a:gridCol>
              </a:tblGrid>
              <a:tr h="4108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FX Cash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FX Outright Forward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  Non-Deliverable Forward (NDF)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FX Swap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772506"/>
                  </a:ext>
                </a:extLst>
              </a:tr>
              <a:tr h="5632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1" u="none" strike="noStrike" dirty="0">
                          <a:effectLst/>
                        </a:rPr>
                        <a:t>FX Option (Exotic)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Vanilla Call Option (European)/Vanilla Put Option (European)/Domestic Payout Option/Foreign Payout Option/Spot Premium Option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 /Forward Premium Option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3325"/>
                  </a:ext>
                </a:extLst>
              </a:tr>
              <a:tr h="9983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FX Option (Vanila)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Digital Call/Put/Range Option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Barrier Options, KO/ RKO (European/ American style)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Barrier Options, KI/ RKI (</a:t>
                      </a:r>
                      <a:r>
                        <a:rPr lang="en-US" altLang="zh-C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Europrean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/ American style)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Barrier Options, KIKO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Touch Options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Time Option (Option Dated Forward)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061596"/>
                  </a:ext>
                </a:extLst>
              </a:tr>
              <a:tr h="339380"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Precious metals</a:t>
                      </a: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Gold Vanilla Option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Gold Digital Option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934475"/>
                  </a:ext>
                </a:extLst>
              </a:tr>
              <a:tr h="359241"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Structured Products</a:t>
                      </a: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TARF without EKI (Generic TARF)/TARF with EKI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   Pivot TARF/Digital TARF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80787"/>
                  </a:ext>
                </a:extLst>
              </a:tr>
              <a:tr h="715567"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Interest Rate Products</a:t>
                      </a:r>
                    </a:p>
                  </a:txBody>
                  <a:tcPr marL="2494" marR="2494" marT="24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Interest Rate Swap (IRS) with ARR Features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Basis Swap with ARR Features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Cross-Currency Swap (CCS) with ARR</a:t>
                      </a:r>
                    </a:p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华文楷体" panose="02010600040101010101" pitchFamily="2" charset="-122"/>
                          <a:cs typeface="Calibri" panose="020F0502020204030204" pitchFamily="34" charset="0"/>
                        </a:rPr>
                        <a:t>Interest Rate Range Accrual Swap (CMS)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华文楷体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2494" marR="2494" marT="2494" marB="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6973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399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Liu, Nero Zheyu</cp:lastModifiedBy>
  <cp:revision>4</cp:revision>
  <dcterms:created xsi:type="dcterms:W3CDTF">2013-01-27T09:14:16Z</dcterms:created>
  <dcterms:modified xsi:type="dcterms:W3CDTF">2026-02-27T07:26:07Z</dcterms:modified>
  <cp:category/>
</cp:coreProperties>
</file>