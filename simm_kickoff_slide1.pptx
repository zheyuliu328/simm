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Background: Regulatory Evolution, Definition Matrix, and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Regulatory Timeline (Condensed)</a:t>
            </a:r>
            <a:br/>
            <a:r>
              <a:rPr/>
              <a:t>2008–2009 crisis exposed bilateral OTC risk; 2011–2013 BCBS-IOSCO set margin standards; 2015–2020 UMR phased rollout; 2016 onward ISDA SIMM became market standard; 2023–2025 supervision tightened on version control, data lineage, and independent validation; current baseline: </a:t>
            </a:r>
            <a:r>
              <a:rPr b="1"/>
              <a:t>SIMM v2.8+2506 (effective 6 Dec 2025)</a:t>
            </a:r>
            <a:r>
              <a:rPr/>
              <a:t> assessed against HKMA SPM CR-G-14 expectations.</a:t>
            </a:r>
          </a:p>
          <a:p>
            <a:pPr lvl="0"/>
            <a:r>
              <a:rPr b="1"/>
              <a:t>Definition Matrix (Core Terms)</a:t>
            </a:r>
            <a:br/>
            <a:r>
              <a:rPr/>
              <a:t>IM = collateral for potential future exposure; SIMM = standardized sensitivity-based IM model; Delta/Vega/Curvature = primary risk inputs; Buckets &amp; Correlations = prescribed aggregation logic; Concentration Risk = threshold-based scaling; Golden Source = authoritative trade/market data; Independent Challenger = objective recomputation engine; Traceability Matrix = requirement → test → evidence → conclusion.</a:t>
            </a:r>
          </a:p>
          <a:p>
            <a:pPr lvl="0"/>
            <a:r>
              <a:rPr b="1"/>
              <a:t>Problems This Framework Solves</a:t>
            </a:r>
          </a:p>
          <a:p>
            <a:pPr lvl="1" indent="-342900" marL="685800">
              <a:buAutoNum type="arabicParenBoth"/>
            </a:pPr>
            <a:r>
              <a:rPr/>
              <a:t>Regulatory defensibility gap, (2) implementation integrity risk (version/parameter/logic), (3) sensitivity transmission risk (pricing → SIMM mapping), (4) data quality and lineage risk (sample + full reconciliation to GL/sub-ledger/golden source), (5) sustainability risk (reusable controls and repeatable artifacts).</a:t>
            </a:r>
          </a:p>
          <a:p>
            <a:pPr lvl="0"/>
            <a:r>
              <a:rPr b="1"/>
              <a:t>Bottom Line</a:t>
            </a:r>
            <a:br/>
            <a:r>
              <a:rPr/>
              <a:t>This project converts SIMM from a pure calculation process into an </a:t>
            </a:r>
            <a:r>
              <a:rPr b="1"/>
              <a:t>audit-ready control framework</a:t>
            </a:r>
            <a:r>
              <a:rPr/>
              <a:t> across methodology, data, and governance.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2026-02-24T00:25:15Z</dcterms:created>
  <dcterms:modified xsi:type="dcterms:W3CDTF">2026-02-24T00:25:15Z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